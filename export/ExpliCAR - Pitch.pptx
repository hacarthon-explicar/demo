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ExpliCAR: a burocracia do CAR traduzida para a linguagem de quem vive da terra. Téo, o técnico digital. 100% aberto, funciona offline.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notificação do SICAR chega em linguagem jurídica, cheia de siglas. O produtor não entende, sente medo de ser multa, e o processo fica parado por anos.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Nos mutirões da SEMAS, processos parados há anos eram resolvidos em 20 minutos de conversa. O gargalo é de comunicação. A conversa lado a lado é o diferencial.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ExpliCAR digitaliza o mutirão: Téo, um técnico que cabe no bolso. Traduz o juridiquês, usa os dados reais da terra, e fala no tom certo. Estrutura: o que significa, por que aconteceu, o que fazer.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jornada: da notificação à identificação da propriedade, escolha do tom, chat adaptativo com gamificação e áudio, até o resumo com os passos numerados.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diferenciais: persona adaptativa com 3 tons, 100% código aberto, LGPD por desenho, e offline-first.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Funcionalidades do MVP: chat com Téo, gamificação, áudio com OmniVoice, FAQ contextual com tolerância a erro, e o Resumo Legal Personalizado.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impacto: o produtor sai de 'não sei' para 'vou resolver'. Menos processos parados, melhor qualidade dos dados, mais preservação e segurança jurídica.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Obrigado. ExpliCAR — Desafio 3 do haCARthon. Mentoria de Lorrana Nunes. O que travava há anos agora cabe no bolso do produtor.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4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573000" y="-1524000"/>
            <a:ext cx="7239000" cy="7239000"/>
          </a:xfrm>
          <a:prstGeom prst="ellipse">
            <a:avLst/>
          </a:prstGeom>
          <a:solidFill>
            <a:srgbClr val="2F5D3A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192000" y="7429500"/>
            <a:ext cx="4953000" cy="4953000"/>
          </a:xfrm>
          <a:prstGeom prst="ellipse">
            <a:avLst/>
          </a:prstGeom>
          <a:solidFill>
            <a:srgbClr val="266E77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1028700"/>
            <a:ext cx="3256002" cy="468630"/>
          </a:xfrm>
          <a:prstGeom prst="roundRect">
            <a:avLst>
              <a:gd name="adj" fmla="val 50000"/>
            </a:avLst>
          </a:prstGeom>
          <a:solidFill>
            <a:srgbClr val="D99A2E"/>
          </a:solidFill>
          <a:ln/>
        </p:spPr>
      </p:sp>
      <p:sp>
        <p:nvSpPr>
          <p:cNvPr id="5" name="Shape 3"/>
          <p:cNvSpPr/>
          <p:nvPr/>
        </p:nvSpPr>
        <p:spPr>
          <a:xfrm>
            <a:off x="1352550" y="1220153"/>
            <a:ext cx="85725" cy="85725"/>
          </a:xfrm>
          <a:prstGeom prst="ellipse">
            <a:avLst/>
          </a:prstGeom>
          <a:solidFill>
            <a:srgbClr val="3A2C0E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543050" y="1133475"/>
            <a:ext cx="2725794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47" kern="0" dirty="0">
                <a:solidFill>
                  <a:srgbClr val="3A2C0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haCARthon · Desafio 3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1143000" y="3294936"/>
            <a:ext cx="17602200" cy="16854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4100" b="1" spc="-353" kern="0" dirty="0">
                <a:solidFill>
                  <a:srgbClr val="F3ECDC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ExpliCAR</a:t>
            </a:r>
            <a:endParaRPr lang="en-US" sz="14100" dirty="0"/>
          </a:p>
        </p:txBody>
      </p:sp>
      <p:sp>
        <p:nvSpPr>
          <p:cNvPr id="8" name="Text 6"/>
          <p:cNvSpPr/>
          <p:nvPr/>
        </p:nvSpPr>
        <p:spPr>
          <a:xfrm>
            <a:off x="1143000" y="5266134"/>
            <a:ext cx="10988040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CFE0C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burocracia do Cadastro Ambiental Rural traduzida para a linguagem de quem vive da terra — em conversa, no tom certo, mesmo sem internet.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143000" y="8663940"/>
            <a:ext cx="3001566" cy="59436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762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98270" y="8804910"/>
            <a:ext cx="2581073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3ECD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🤖 Téo, o técnico digital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296966" y="8663940"/>
            <a:ext cx="2554962" cy="59436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762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2236" y="8804910"/>
            <a:ext cx="212107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3ECD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100% código aberto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004328" y="8663940"/>
            <a:ext cx="2140744" cy="59436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762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59598" y="8804910"/>
            <a:ext cx="170640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3ECD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Funciona offline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90600"/>
            <a:ext cx="176022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C05A3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O PROBLEMA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78280"/>
            <a:ext cx="12753975" cy="1678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150" b="1" spc="-123" kern="0" dirty="0">
                <a:solidFill>
                  <a:srgbClr val="221E17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 notificação chega em uma língua que não é a dele.</a:t>
            </a:r>
            <a:endParaRPr lang="en-US" sz="6150" dirty="0"/>
          </a:p>
        </p:txBody>
      </p:sp>
      <p:sp>
        <p:nvSpPr>
          <p:cNvPr id="4" name="Shape 2"/>
          <p:cNvSpPr/>
          <p:nvPr/>
        </p:nvSpPr>
        <p:spPr>
          <a:xfrm rot="-180000">
            <a:off x="1142999" y="4845367"/>
            <a:ext cx="4953002" cy="3581402"/>
          </a:xfrm>
          <a:prstGeom prst="roundRect">
            <a:avLst>
              <a:gd name="adj" fmla="val 4255"/>
            </a:avLst>
          </a:prstGeom>
          <a:solidFill>
            <a:srgbClr val="F8F1E1"/>
          </a:solidFill>
          <a:ln w="7620">
            <a:solidFill>
              <a:srgbClr val="E4DA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90000">
            <a:off x="1143001" y="4673918"/>
            <a:ext cx="4952998" cy="3752849"/>
          </a:xfrm>
          <a:prstGeom prst="roundRect">
            <a:avLst>
              <a:gd name="adj" fmla="val 4061"/>
            </a:avLst>
          </a:prstGeom>
          <a:solidFill>
            <a:srgbClr val="FCF8EE"/>
          </a:solidFill>
          <a:ln w="7620">
            <a:solidFill>
              <a:srgbClr val="E4DABF"/>
            </a:solidFill>
            <a:prstDash val="solid"/>
          </a:ln>
          <a:effectLst>
            <a:outerShdw sx="100000" sy="100000" kx="0" ky="0" algn="bl" rotWithShape="0" blurRad="476250" dist="1905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53629" y="5784221"/>
            <a:ext cx="4191982" cy="9525"/>
          </a:xfrm>
          <a:prstGeom prst="rect">
            <a:avLst/>
          </a:prstGeom>
          <a:solidFill>
            <a:srgbClr val="E4DABF"/>
          </a:solidFill>
          <a:ln/>
        </p:spPr>
      </p:sp>
      <p:sp>
        <p:nvSpPr>
          <p:cNvPr id="7" name="Shape 5"/>
          <p:cNvSpPr/>
          <p:nvPr/>
        </p:nvSpPr>
        <p:spPr>
          <a:xfrm>
            <a:off x="1559314" y="5008393"/>
            <a:ext cx="469011" cy="469011"/>
          </a:xfrm>
          <a:prstGeom prst="roundRect">
            <a:avLst>
              <a:gd name="adj" fmla="val 22340"/>
            </a:avLst>
          </a:prstGeom>
          <a:solidFill>
            <a:srgbClr val="2F5D3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1910" y="5110990"/>
            <a:ext cx="263819" cy="26381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68854" y="5030064"/>
            <a:ext cx="2555903" cy="548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8A7C62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SISTEMA NACIONAL DE CADASTRO AMBIENTAL RURAL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1543905" y="5930097"/>
            <a:ext cx="3843595" cy="224346"/>
          </a:xfrm>
          <a:prstGeom prst="roundRect">
            <a:avLst>
              <a:gd name="adj" fmla="val 25474"/>
            </a:avLst>
          </a:prstGeom>
          <a:solidFill>
            <a:srgbClr val="E4DABF"/>
          </a:solidFill>
          <a:ln/>
        </p:spPr>
      </p:sp>
      <p:sp>
        <p:nvSpPr>
          <p:cNvPr id="11" name="Shape 8"/>
          <p:cNvSpPr/>
          <p:nvPr/>
        </p:nvSpPr>
        <p:spPr>
          <a:xfrm>
            <a:off x="1534505" y="6289067"/>
            <a:ext cx="764980" cy="143730"/>
          </a:xfrm>
          <a:prstGeom prst="roundRect">
            <a:avLst>
              <a:gd name="adj" fmla="val 39762"/>
            </a:avLst>
          </a:prstGeom>
          <a:solidFill>
            <a:srgbClr val="E4DABF"/>
          </a:solidFill>
          <a:ln/>
        </p:spPr>
      </p:sp>
      <p:sp>
        <p:nvSpPr>
          <p:cNvPr id="12" name="Shape 9"/>
          <p:cNvSpPr/>
          <p:nvPr/>
        </p:nvSpPr>
        <p:spPr>
          <a:xfrm>
            <a:off x="2398564" y="6219395"/>
            <a:ext cx="1573452" cy="349495"/>
          </a:xfrm>
          <a:prstGeom prst="roundRect">
            <a:avLst>
              <a:gd name="adj" fmla="val 19078"/>
            </a:avLst>
          </a:prstGeom>
          <a:solidFill>
            <a:srgbClr val="C05A33">
              <a:alpha val="16000"/>
            </a:srgbClr>
          </a:solidFill>
          <a:ln w="7620">
            <a:solidFill>
              <a:srgbClr val="C05A33">
                <a:alpha val="4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30009" y="6255590"/>
            <a:ext cx="1386762" cy="315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9A2C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Art. 12, §4º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520268" y="6648036"/>
            <a:ext cx="487974" cy="321071"/>
          </a:xfrm>
          <a:prstGeom prst="roundRect">
            <a:avLst>
              <a:gd name="adj" fmla="val 20766"/>
            </a:avLst>
          </a:prstGeom>
          <a:solidFill>
            <a:srgbClr val="C05A33">
              <a:alpha val="16000"/>
            </a:srgbClr>
          </a:solidFill>
          <a:ln w="7620">
            <a:solidFill>
              <a:srgbClr val="C05A33">
                <a:alpha val="4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651713" y="6684231"/>
            <a:ext cx="301284" cy="286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9A2C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RL</a:t>
            </a:r>
            <a:endParaRPr lang="en-US" sz="1425" dirty="0"/>
          </a:p>
        </p:txBody>
      </p:sp>
      <p:sp>
        <p:nvSpPr>
          <p:cNvPr id="16" name="Shape 13"/>
          <p:cNvSpPr/>
          <p:nvPr/>
        </p:nvSpPr>
        <p:spPr>
          <a:xfrm>
            <a:off x="2107321" y="6755706"/>
            <a:ext cx="1241067" cy="156196"/>
          </a:xfrm>
          <a:prstGeom prst="roundRect">
            <a:avLst>
              <a:gd name="adj" fmla="val 36589"/>
            </a:avLst>
          </a:prstGeom>
          <a:solidFill>
            <a:srgbClr val="E4DABF"/>
          </a:solidFill>
          <a:ln/>
        </p:spPr>
      </p:sp>
      <p:sp>
        <p:nvSpPr>
          <p:cNvPr id="17" name="Shape 14"/>
          <p:cNvSpPr/>
          <p:nvPr/>
        </p:nvSpPr>
        <p:spPr>
          <a:xfrm>
            <a:off x="3447467" y="6698502"/>
            <a:ext cx="596522" cy="323913"/>
          </a:xfrm>
          <a:prstGeom prst="roundRect">
            <a:avLst>
              <a:gd name="adj" fmla="val 20584"/>
            </a:avLst>
          </a:prstGeom>
          <a:solidFill>
            <a:srgbClr val="C05A33">
              <a:alpha val="16000"/>
            </a:srgbClr>
          </a:solidFill>
          <a:ln w="7620">
            <a:solidFill>
              <a:srgbClr val="C05A33">
                <a:alpha val="4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578912" y="6734697"/>
            <a:ext cx="409832" cy="289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9A2C1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APP</a:t>
            </a:r>
            <a:endParaRPr lang="en-US" sz="1425" dirty="0"/>
          </a:p>
        </p:txBody>
      </p:sp>
      <p:sp>
        <p:nvSpPr>
          <p:cNvPr id="19" name="Shape 16"/>
          <p:cNvSpPr/>
          <p:nvPr/>
        </p:nvSpPr>
        <p:spPr>
          <a:xfrm>
            <a:off x="1513286" y="7099366"/>
            <a:ext cx="3092211" cy="204670"/>
          </a:xfrm>
          <a:prstGeom prst="roundRect">
            <a:avLst>
              <a:gd name="adj" fmla="val 27923"/>
            </a:avLst>
          </a:prstGeom>
          <a:solidFill>
            <a:srgbClr val="E4DABF"/>
          </a:solidFill>
          <a:ln/>
        </p:spPr>
      </p:sp>
      <p:sp>
        <p:nvSpPr>
          <p:cNvPr id="20" name="Shape 17"/>
          <p:cNvSpPr/>
          <p:nvPr/>
        </p:nvSpPr>
        <p:spPr>
          <a:xfrm>
            <a:off x="1504086" y="7450718"/>
            <a:ext cx="917328" cy="147719"/>
          </a:xfrm>
          <a:prstGeom prst="roundRect">
            <a:avLst>
              <a:gd name="adj" fmla="val 38688"/>
            </a:avLst>
          </a:prstGeom>
          <a:solidFill>
            <a:srgbClr val="E4DABF"/>
          </a:solidFill>
          <a:ln/>
        </p:spPr>
      </p:sp>
      <p:sp>
        <p:nvSpPr>
          <p:cNvPr id="21" name="Shape 18"/>
          <p:cNvSpPr/>
          <p:nvPr/>
        </p:nvSpPr>
        <p:spPr>
          <a:xfrm>
            <a:off x="2520692" y="7392654"/>
            <a:ext cx="1093157" cy="321694"/>
          </a:xfrm>
          <a:prstGeom prst="roundRect">
            <a:avLst>
              <a:gd name="adj" fmla="val 20726"/>
            </a:avLst>
          </a:prstGeom>
          <a:solidFill>
            <a:srgbClr val="FBEFD9"/>
          </a:solidFill>
          <a:ln w="7620">
            <a:solidFill>
              <a:srgbClr val="D99A2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652137" y="7428849"/>
            <a:ext cx="906468" cy="287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A5A1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SUSPENSO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1494885" y="7802070"/>
            <a:ext cx="2591250" cy="191552"/>
          </a:xfrm>
          <a:prstGeom prst="roundRect">
            <a:avLst>
              <a:gd name="adj" fmla="val 29835"/>
            </a:avLst>
          </a:prstGeom>
          <a:solidFill>
            <a:srgbClr val="E4DABF"/>
          </a:solidFill>
          <a:ln/>
        </p:spPr>
      </p:sp>
      <p:sp>
        <p:nvSpPr>
          <p:cNvPr id="24" name="Shape 21"/>
          <p:cNvSpPr/>
          <p:nvPr/>
        </p:nvSpPr>
        <p:spPr>
          <a:xfrm>
            <a:off x="6629400" y="5167313"/>
            <a:ext cx="514350" cy="514350"/>
          </a:xfrm>
          <a:prstGeom prst="roundRect">
            <a:avLst>
              <a:gd name="adj" fmla="val 25926"/>
            </a:avLst>
          </a:prstGeom>
          <a:solidFill>
            <a:srgbClr val="FBEFD9"/>
          </a:solidFill>
          <a:ln w="7620">
            <a:solidFill>
              <a:srgbClr val="D99A2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98920" y="5174933"/>
            <a:ext cx="575310" cy="537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221E1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🔤</a:t>
            </a:r>
            <a:endParaRPr lang="en-US" sz="2100" dirty="0"/>
          </a:p>
        </p:txBody>
      </p:sp>
      <p:sp>
        <p:nvSpPr>
          <p:cNvPr id="26" name="Text 23"/>
          <p:cNvSpPr/>
          <p:nvPr/>
        </p:nvSpPr>
        <p:spPr>
          <a:xfrm>
            <a:off x="7353300" y="5167313"/>
            <a:ext cx="8187643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221E1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Siglas sem tradução</a:t>
            </a:r>
            <a:endParaRPr lang="en-US" sz="2325" dirty="0"/>
          </a:p>
        </p:txBody>
      </p:sp>
      <p:sp>
        <p:nvSpPr>
          <p:cNvPr id="27" name="Text 24"/>
          <p:cNvSpPr/>
          <p:nvPr/>
        </p:nvSpPr>
        <p:spPr>
          <a:xfrm>
            <a:off x="7353300" y="5603557"/>
            <a:ext cx="818764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6E5A4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APP, RL, PRA, AC, artigos de lei — termos que o produtor nunca ouviu.</a:t>
            </a:r>
            <a:endParaRPr lang="en-US" sz="1875" dirty="0"/>
          </a:p>
        </p:txBody>
      </p:sp>
      <p:sp>
        <p:nvSpPr>
          <p:cNvPr id="28" name="Shape 25"/>
          <p:cNvSpPr/>
          <p:nvPr/>
        </p:nvSpPr>
        <p:spPr>
          <a:xfrm>
            <a:off x="6629400" y="6165532"/>
            <a:ext cx="514350" cy="514350"/>
          </a:xfrm>
          <a:prstGeom prst="roundRect">
            <a:avLst>
              <a:gd name="adj" fmla="val 25926"/>
            </a:avLst>
          </a:prstGeom>
          <a:solidFill>
            <a:srgbClr val="F4E0D6"/>
          </a:solidFill>
          <a:ln w="7620">
            <a:solidFill>
              <a:srgbClr val="C05A3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598920" y="6173152"/>
            <a:ext cx="575310" cy="537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221E1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😟</a:t>
            </a:r>
            <a:endParaRPr lang="en-US" sz="2100" dirty="0"/>
          </a:p>
        </p:txBody>
      </p:sp>
      <p:sp>
        <p:nvSpPr>
          <p:cNvPr id="30" name="Text 27"/>
          <p:cNvSpPr/>
          <p:nvPr/>
        </p:nvSpPr>
        <p:spPr>
          <a:xfrm>
            <a:off x="7353300" y="6165532"/>
            <a:ext cx="8330922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221E1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Medo: "é multa?"</a:t>
            </a:r>
            <a:endParaRPr lang="en-US" sz="2325" dirty="0"/>
          </a:p>
        </p:txBody>
      </p:sp>
      <p:sp>
        <p:nvSpPr>
          <p:cNvPr id="31" name="Text 28"/>
          <p:cNvSpPr/>
          <p:nvPr/>
        </p:nvSpPr>
        <p:spPr>
          <a:xfrm>
            <a:off x="7353300" y="6601778"/>
            <a:ext cx="833092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6E5A4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Sem entender, ele não procura ajuda — e às vezes acha que é punição.</a:t>
            </a:r>
            <a:endParaRPr lang="en-US" sz="1875" dirty="0"/>
          </a:p>
        </p:txBody>
      </p:sp>
      <p:sp>
        <p:nvSpPr>
          <p:cNvPr id="32" name="Shape 29"/>
          <p:cNvSpPr/>
          <p:nvPr/>
        </p:nvSpPr>
        <p:spPr>
          <a:xfrm>
            <a:off x="6629400" y="7163753"/>
            <a:ext cx="514350" cy="514350"/>
          </a:xfrm>
          <a:prstGeom prst="roundRect">
            <a:avLst>
              <a:gd name="adj" fmla="val 25926"/>
            </a:avLst>
          </a:prstGeom>
          <a:solidFill>
            <a:srgbClr val="E3EFE3"/>
          </a:solidFill>
          <a:ln w="7620">
            <a:solidFill>
              <a:srgbClr val="2F5D3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598920" y="7171373"/>
            <a:ext cx="575310" cy="537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221E1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⏳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7353300" y="7163753"/>
            <a:ext cx="10345484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221E1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Processo parado por anos</a:t>
            </a:r>
            <a:endParaRPr lang="en-US" sz="2325" dirty="0"/>
          </a:p>
        </p:txBody>
      </p:sp>
      <p:sp>
        <p:nvSpPr>
          <p:cNvPr id="35" name="Text 32"/>
          <p:cNvSpPr/>
          <p:nvPr/>
        </p:nvSpPr>
        <p:spPr>
          <a:xfrm>
            <a:off x="7353300" y="7599998"/>
            <a:ext cx="1034548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6E5A4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Não por má vontade — por falta de entendimento. Custo ambiental, econômico e social.</a:t>
            </a:r>
            <a:endParaRPr lang="en-US" sz="18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F5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33500" y="6286500"/>
            <a:ext cx="5905500" cy="5905500"/>
          </a:xfrm>
          <a:prstGeom prst="ellipse">
            <a:avLst/>
          </a:prstGeom>
          <a:solidFill>
            <a:srgbClr val="266E77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1494949"/>
            <a:ext cx="176022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FE0A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O INSIGHT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2077879"/>
            <a:ext cx="3592735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2500" b="1" spc="-675" kern="0" dirty="0">
                <a:solidFill>
                  <a:srgbClr val="D99A2E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20</a:t>
            </a:r>
            <a:endParaRPr lang="en-US" sz="22500" dirty="0"/>
          </a:p>
        </p:txBody>
      </p:sp>
      <p:sp>
        <p:nvSpPr>
          <p:cNvPr id="5" name="Text 3"/>
          <p:cNvSpPr/>
          <p:nvPr/>
        </p:nvSpPr>
        <p:spPr>
          <a:xfrm>
            <a:off x="4790122" y="3563779"/>
            <a:ext cx="9810750" cy="2318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114" kern="0" dirty="0">
                <a:solidFill>
                  <a:srgbClr val="F3ECDC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minutos de conversa resolvem o que travava há anos.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4790122" y="6148864"/>
            <a:ext cx="9810750" cy="1446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550" dirty="0">
                <a:solidFill>
                  <a:srgbClr val="CFE0C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Nos mutirões da SEMAS, o técnico traduz a lei na língua do produtor, no tom certo, com os dados da terra dele. O gargalo nunca foi técnico — é de comunicação.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1143000" y="8167211"/>
            <a:ext cx="4932045" cy="62484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7620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17320" y="8355806"/>
            <a:ext cx="247650" cy="2476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98320" y="8327231"/>
            <a:ext cx="412247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3ECD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Validado em campo, não em hipótese</a:t>
            </a:r>
            <a:endParaRPr lang="en-US" sz="18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90600"/>
            <a:ext cx="176022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C05A3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 SOLUÇÃO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143000" y="1478280"/>
            <a:ext cx="1028700" cy="1028700"/>
          </a:xfrm>
          <a:prstGeom prst="ellipse">
            <a:avLst/>
          </a:prstGeom>
          <a:solidFill>
            <a:srgbClr val="D99A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81125" y="1716405"/>
            <a:ext cx="552450" cy="5524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95550" y="1584603"/>
            <a:ext cx="12689300" cy="854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300" b="1" spc="-126" kern="0" dirty="0">
                <a:solidFill>
                  <a:srgbClr val="221E17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Téo, o técnico que cabe no bolso.</a:t>
            </a:r>
            <a:endParaRPr lang="en-US" sz="6300" dirty="0"/>
          </a:p>
        </p:txBody>
      </p:sp>
      <p:sp>
        <p:nvSpPr>
          <p:cNvPr id="6" name="Shape 3"/>
          <p:cNvSpPr/>
          <p:nvPr/>
        </p:nvSpPr>
        <p:spPr>
          <a:xfrm>
            <a:off x="1143000" y="3268980"/>
            <a:ext cx="5143500" cy="2801303"/>
          </a:xfrm>
          <a:prstGeom prst="roundRect">
            <a:avLst>
              <a:gd name="adj" fmla="val 6120"/>
            </a:avLst>
          </a:prstGeom>
          <a:solidFill>
            <a:srgbClr val="FCF8EE"/>
          </a:solidFill>
          <a:ln/>
        </p:spPr>
      </p:sp>
      <p:sp>
        <p:nvSpPr>
          <p:cNvPr id="7" name="Shape 4"/>
          <p:cNvSpPr/>
          <p:nvPr/>
        </p:nvSpPr>
        <p:spPr>
          <a:xfrm>
            <a:off x="1143000" y="6062663"/>
            <a:ext cx="5143500" cy="9525"/>
          </a:xfrm>
          <a:prstGeom prst="rect">
            <a:avLst/>
          </a:prstGeom>
          <a:solidFill>
            <a:srgbClr val="E4DABF"/>
          </a:solidFill>
          <a:ln/>
        </p:spPr>
      </p:sp>
      <p:sp>
        <p:nvSpPr>
          <p:cNvPr id="8" name="Shape 5"/>
          <p:cNvSpPr/>
          <p:nvPr/>
        </p:nvSpPr>
        <p:spPr>
          <a:xfrm>
            <a:off x="1143000" y="3268980"/>
            <a:ext cx="5143500" cy="53340"/>
          </a:xfrm>
          <a:prstGeom prst="rect">
            <a:avLst/>
          </a:prstGeom>
          <a:solidFill>
            <a:srgbClr val="C05A33"/>
          </a:solidFill>
          <a:ln/>
        </p:spPr>
      </p:sp>
      <p:sp>
        <p:nvSpPr>
          <p:cNvPr id="9" name="Shape 6"/>
          <p:cNvSpPr/>
          <p:nvPr/>
        </p:nvSpPr>
        <p:spPr>
          <a:xfrm>
            <a:off x="1143000" y="3268980"/>
            <a:ext cx="9525" cy="2801303"/>
          </a:xfrm>
          <a:prstGeom prst="rect">
            <a:avLst/>
          </a:prstGeom>
          <a:solidFill>
            <a:srgbClr val="E4DABF"/>
          </a:solidFill>
          <a:ln/>
        </p:spPr>
      </p:sp>
      <p:sp>
        <p:nvSpPr>
          <p:cNvPr id="10" name="Shape 7"/>
          <p:cNvSpPr/>
          <p:nvPr/>
        </p:nvSpPr>
        <p:spPr>
          <a:xfrm>
            <a:off x="6278880" y="3268980"/>
            <a:ext cx="9525" cy="2801303"/>
          </a:xfrm>
          <a:prstGeom prst="rect">
            <a:avLst/>
          </a:prstGeom>
          <a:solidFill>
            <a:srgbClr val="E4DABF"/>
          </a:solidFill>
          <a:ln/>
        </p:spPr>
      </p:sp>
      <p:sp>
        <p:nvSpPr>
          <p:cNvPr id="11" name="Text 8"/>
          <p:cNvSpPr/>
          <p:nvPr/>
        </p:nvSpPr>
        <p:spPr>
          <a:xfrm>
            <a:off x="1512570" y="3703320"/>
            <a:ext cx="4844796" cy="617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221E1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🗣️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1512570" y="4472940"/>
            <a:ext cx="4844796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221E1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Traduz o juridiquês</a:t>
            </a:r>
            <a:endParaRPr lang="en-US" sz="2475" dirty="0"/>
          </a:p>
        </p:txBody>
      </p:sp>
      <p:sp>
        <p:nvSpPr>
          <p:cNvPr id="13" name="Text 10"/>
          <p:cNvSpPr/>
          <p:nvPr/>
        </p:nvSpPr>
        <p:spPr>
          <a:xfrm>
            <a:off x="1512570" y="4991100"/>
            <a:ext cx="4536491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6E5A4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Toda sigla vira palavra do dia a dia. Nunca diz "é simples".</a:t>
            </a:r>
            <a:endParaRPr lang="en-US" sz="1875" dirty="0"/>
          </a:p>
        </p:txBody>
      </p:sp>
      <p:sp>
        <p:nvSpPr>
          <p:cNvPr id="14" name="Shape 11"/>
          <p:cNvSpPr/>
          <p:nvPr/>
        </p:nvSpPr>
        <p:spPr>
          <a:xfrm>
            <a:off x="6572250" y="3268980"/>
            <a:ext cx="5143500" cy="2801303"/>
          </a:xfrm>
          <a:prstGeom prst="roundRect">
            <a:avLst>
              <a:gd name="adj" fmla="val 6120"/>
            </a:avLst>
          </a:prstGeom>
          <a:solidFill>
            <a:srgbClr val="FCF8EE"/>
          </a:solidFill>
          <a:ln/>
        </p:spPr>
      </p:sp>
      <p:sp>
        <p:nvSpPr>
          <p:cNvPr id="15" name="Shape 12"/>
          <p:cNvSpPr/>
          <p:nvPr/>
        </p:nvSpPr>
        <p:spPr>
          <a:xfrm>
            <a:off x="6572250" y="6062663"/>
            <a:ext cx="5143500" cy="9525"/>
          </a:xfrm>
          <a:prstGeom prst="rect">
            <a:avLst/>
          </a:prstGeom>
          <a:solidFill>
            <a:srgbClr val="E4DABF"/>
          </a:solidFill>
          <a:ln/>
        </p:spPr>
      </p:sp>
      <p:sp>
        <p:nvSpPr>
          <p:cNvPr id="16" name="Shape 13"/>
          <p:cNvSpPr/>
          <p:nvPr/>
        </p:nvSpPr>
        <p:spPr>
          <a:xfrm>
            <a:off x="6572250" y="3268980"/>
            <a:ext cx="5143500" cy="53340"/>
          </a:xfrm>
          <a:prstGeom prst="rect">
            <a:avLst/>
          </a:prstGeom>
          <a:solidFill>
            <a:srgbClr val="D99A2E"/>
          </a:solidFill>
          <a:ln/>
        </p:spPr>
      </p:sp>
      <p:sp>
        <p:nvSpPr>
          <p:cNvPr id="17" name="Shape 14"/>
          <p:cNvSpPr/>
          <p:nvPr/>
        </p:nvSpPr>
        <p:spPr>
          <a:xfrm>
            <a:off x="6572250" y="3268980"/>
            <a:ext cx="9525" cy="2801303"/>
          </a:xfrm>
          <a:prstGeom prst="rect">
            <a:avLst/>
          </a:prstGeom>
          <a:solidFill>
            <a:srgbClr val="E4DABF"/>
          </a:solidFill>
          <a:ln/>
        </p:spPr>
      </p:sp>
      <p:sp>
        <p:nvSpPr>
          <p:cNvPr id="18" name="Shape 15"/>
          <p:cNvSpPr/>
          <p:nvPr/>
        </p:nvSpPr>
        <p:spPr>
          <a:xfrm>
            <a:off x="11708130" y="3268980"/>
            <a:ext cx="9525" cy="2801303"/>
          </a:xfrm>
          <a:prstGeom prst="rect">
            <a:avLst/>
          </a:prstGeom>
          <a:solidFill>
            <a:srgbClr val="E4DABF"/>
          </a:solidFill>
          <a:ln/>
        </p:spPr>
      </p:sp>
      <p:sp>
        <p:nvSpPr>
          <p:cNvPr id="19" name="Text 16"/>
          <p:cNvSpPr/>
          <p:nvPr/>
        </p:nvSpPr>
        <p:spPr>
          <a:xfrm>
            <a:off x="6941820" y="3703320"/>
            <a:ext cx="4844796" cy="617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221E1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🗺️</a:t>
            </a:r>
            <a:endParaRPr lang="en-US" sz="3300" dirty="0"/>
          </a:p>
        </p:txBody>
      </p:sp>
      <p:sp>
        <p:nvSpPr>
          <p:cNvPr id="20" name="Text 17"/>
          <p:cNvSpPr/>
          <p:nvPr/>
        </p:nvSpPr>
        <p:spPr>
          <a:xfrm>
            <a:off x="6941820" y="4472940"/>
            <a:ext cx="4844796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221E1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Usa os dados da terra</a:t>
            </a:r>
            <a:endParaRPr lang="en-US" sz="2475" dirty="0"/>
          </a:p>
        </p:txBody>
      </p:sp>
      <p:sp>
        <p:nvSpPr>
          <p:cNvPr id="21" name="Text 18"/>
          <p:cNvSpPr/>
          <p:nvPr/>
        </p:nvSpPr>
        <p:spPr>
          <a:xfrm>
            <a:off x="6941820" y="4991100"/>
            <a:ext cx="4536491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6E5A4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Nome da propriedade, área, bioma, o rio — a regra explicada na realidade dele.</a:t>
            </a:r>
            <a:endParaRPr lang="en-US" sz="1875" dirty="0"/>
          </a:p>
        </p:txBody>
      </p:sp>
      <p:sp>
        <p:nvSpPr>
          <p:cNvPr id="22" name="Shape 19"/>
          <p:cNvSpPr/>
          <p:nvPr/>
        </p:nvSpPr>
        <p:spPr>
          <a:xfrm>
            <a:off x="12001500" y="3268980"/>
            <a:ext cx="5143500" cy="2801303"/>
          </a:xfrm>
          <a:prstGeom prst="roundRect">
            <a:avLst>
              <a:gd name="adj" fmla="val 6120"/>
            </a:avLst>
          </a:prstGeom>
          <a:solidFill>
            <a:srgbClr val="FCF8EE"/>
          </a:solidFill>
          <a:ln/>
        </p:spPr>
      </p:sp>
      <p:sp>
        <p:nvSpPr>
          <p:cNvPr id="23" name="Shape 20"/>
          <p:cNvSpPr/>
          <p:nvPr/>
        </p:nvSpPr>
        <p:spPr>
          <a:xfrm>
            <a:off x="12001500" y="6062663"/>
            <a:ext cx="5143500" cy="9525"/>
          </a:xfrm>
          <a:prstGeom prst="rect">
            <a:avLst/>
          </a:prstGeom>
          <a:solidFill>
            <a:srgbClr val="E4DABF"/>
          </a:solidFill>
          <a:ln/>
        </p:spPr>
      </p:sp>
      <p:sp>
        <p:nvSpPr>
          <p:cNvPr id="24" name="Shape 21"/>
          <p:cNvSpPr/>
          <p:nvPr/>
        </p:nvSpPr>
        <p:spPr>
          <a:xfrm>
            <a:off x="12001500" y="3268980"/>
            <a:ext cx="5143500" cy="53340"/>
          </a:xfrm>
          <a:prstGeom prst="rect">
            <a:avLst/>
          </a:prstGeom>
          <a:solidFill>
            <a:srgbClr val="266E77"/>
          </a:solidFill>
          <a:ln/>
        </p:spPr>
      </p:sp>
      <p:sp>
        <p:nvSpPr>
          <p:cNvPr id="25" name="Shape 22"/>
          <p:cNvSpPr/>
          <p:nvPr/>
        </p:nvSpPr>
        <p:spPr>
          <a:xfrm>
            <a:off x="12001500" y="3268980"/>
            <a:ext cx="9525" cy="2801303"/>
          </a:xfrm>
          <a:prstGeom prst="rect">
            <a:avLst/>
          </a:prstGeom>
          <a:solidFill>
            <a:srgbClr val="E4DABF"/>
          </a:solidFill>
          <a:ln/>
        </p:spPr>
      </p:sp>
      <p:sp>
        <p:nvSpPr>
          <p:cNvPr id="26" name="Shape 23"/>
          <p:cNvSpPr/>
          <p:nvPr/>
        </p:nvSpPr>
        <p:spPr>
          <a:xfrm>
            <a:off x="17137380" y="3268980"/>
            <a:ext cx="9525" cy="2801303"/>
          </a:xfrm>
          <a:prstGeom prst="rect">
            <a:avLst/>
          </a:prstGeom>
          <a:solidFill>
            <a:srgbClr val="E4DABF"/>
          </a:solidFill>
          <a:ln/>
        </p:spPr>
      </p:sp>
      <p:sp>
        <p:nvSpPr>
          <p:cNvPr id="27" name="Text 24"/>
          <p:cNvSpPr/>
          <p:nvPr/>
        </p:nvSpPr>
        <p:spPr>
          <a:xfrm>
            <a:off x="12371070" y="3703320"/>
            <a:ext cx="4844796" cy="617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221E1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🎚️</a:t>
            </a:r>
            <a:endParaRPr lang="en-US" sz="3300" dirty="0"/>
          </a:p>
        </p:txBody>
      </p:sp>
      <p:sp>
        <p:nvSpPr>
          <p:cNvPr id="28" name="Text 25"/>
          <p:cNvSpPr/>
          <p:nvPr/>
        </p:nvSpPr>
        <p:spPr>
          <a:xfrm>
            <a:off x="12371070" y="4472940"/>
            <a:ext cx="4844796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221E1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Fala no tom certo</a:t>
            </a:r>
            <a:endParaRPr lang="en-US" sz="2475" dirty="0"/>
          </a:p>
        </p:txBody>
      </p:sp>
      <p:sp>
        <p:nvSpPr>
          <p:cNvPr id="29" name="Text 26"/>
          <p:cNvSpPr/>
          <p:nvPr/>
        </p:nvSpPr>
        <p:spPr>
          <a:xfrm>
            <a:off x="12371070" y="4991100"/>
            <a:ext cx="4536491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6E5A4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Direto, com calma ou completo — e se ajusta sozinho aos sinais do produtor.</a:t>
            </a:r>
            <a:endParaRPr lang="en-US" sz="1875" dirty="0"/>
          </a:p>
        </p:txBody>
      </p:sp>
      <p:sp>
        <p:nvSpPr>
          <p:cNvPr id="30" name="Shape 27"/>
          <p:cNvSpPr/>
          <p:nvPr/>
        </p:nvSpPr>
        <p:spPr>
          <a:xfrm>
            <a:off x="1143000" y="8412480"/>
            <a:ext cx="16002000" cy="883920"/>
          </a:xfrm>
          <a:prstGeom prst="roundRect">
            <a:avLst>
              <a:gd name="adj" fmla="val 17241"/>
            </a:avLst>
          </a:prstGeom>
          <a:solidFill>
            <a:srgbClr val="E3EFE3"/>
          </a:solidFill>
          <a:ln w="7620">
            <a:solidFill>
              <a:srgbClr val="2F5D3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474470" y="8717280"/>
            <a:ext cx="359587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F5D3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ESTRUTURA DE CADA RESPOSTA</a:t>
            </a:r>
            <a:endParaRPr lang="en-US" sz="1650" dirty="0"/>
          </a:p>
        </p:txBody>
      </p:sp>
      <p:sp>
        <p:nvSpPr>
          <p:cNvPr id="32" name="Text 29"/>
          <p:cNvSpPr/>
          <p:nvPr/>
        </p:nvSpPr>
        <p:spPr>
          <a:xfrm>
            <a:off x="4933950" y="8667750"/>
            <a:ext cx="6782086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21E1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 que significa → Por que aconteceu → O que fazer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90600"/>
            <a:ext cx="176022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C05A3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 JORNADA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78280"/>
            <a:ext cx="17602200" cy="8106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850" b="1" spc="-117" kern="0" dirty="0">
                <a:solidFill>
                  <a:srgbClr val="221E17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Da carta incompreensível ao plano no bolso.</a:t>
            </a:r>
            <a:endParaRPr lang="en-US" sz="5850" dirty="0"/>
          </a:p>
        </p:txBody>
      </p:sp>
      <p:sp>
        <p:nvSpPr>
          <p:cNvPr id="4" name="Shape 2"/>
          <p:cNvSpPr/>
          <p:nvPr/>
        </p:nvSpPr>
        <p:spPr>
          <a:xfrm>
            <a:off x="2057400" y="3165277"/>
            <a:ext cx="914400" cy="914400"/>
          </a:xfrm>
          <a:prstGeom prst="roundRect">
            <a:avLst>
              <a:gd name="adj" fmla="val 25000"/>
            </a:avLst>
          </a:prstGeom>
          <a:solidFill>
            <a:srgbClr val="D99A2E"/>
          </a:solidFill>
          <a:ln/>
        </p:spPr>
      </p:sp>
      <p:sp>
        <p:nvSpPr>
          <p:cNvPr id="5" name="Text 3"/>
          <p:cNvSpPr/>
          <p:nvPr/>
        </p:nvSpPr>
        <p:spPr>
          <a:xfrm>
            <a:off x="2019300" y="3165277"/>
            <a:ext cx="9906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150" dirty="0">
                <a:solidFill>
                  <a:srgbClr val="3A2C0E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📩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1755636" y="4289227"/>
            <a:ext cx="1517928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21E1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Notificação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78708" y="4715947"/>
            <a:ext cx="2271784" cy="308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6E5A4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QR code ou CPF + CAR</a:t>
            </a:r>
            <a:endParaRPr lang="en-US" sz="1575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81450" y="3580329"/>
            <a:ext cx="381000" cy="381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372100" y="3165277"/>
            <a:ext cx="914400" cy="914400"/>
          </a:xfrm>
          <a:prstGeom prst="roundRect">
            <a:avLst>
              <a:gd name="adj" fmla="val 25000"/>
            </a:avLst>
          </a:prstGeom>
          <a:solidFill>
            <a:srgbClr val="2F5D3A"/>
          </a:solidFill>
          <a:ln/>
        </p:spPr>
      </p:sp>
      <p:sp>
        <p:nvSpPr>
          <p:cNvPr id="10" name="Text 7"/>
          <p:cNvSpPr/>
          <p:nvPr/>
        </p:nvSpPr>
        <p:spPr>
          <a:xfrm>
            <a:off x="5334000" y="3165277"/>
            <a:ext cx="9906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150" dirty="0">
                <a:solidFill>
                  <a:srgbClr val="F3ECD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🏁</a:t>
            </a:r>
            <a:endParaRPr lang="en-US" sz="3150" dirty="0"/>
          </a:p>
        </p:txBody>
      </p:sp>
      <p:sp>
        <p:nvSpPr>
          <p:cNvPr id="11" name="Text 8"/>
          <p:cNvSpPr/>
          <p:nvPr/>
        </p:nvSpPr>
        <p:spPr>
          <a:xfrm>
            <a:off x="4969365" y="4289227"/>
            <a:ext cx="171975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21E1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Identificação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4451247" y="4715947"/>
            <a:ext cx="2756107" cy="308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6E5A4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Propriedade + 3 pendências</a:t>
            </a:r>
            <a:endParaRPr lang="en-US" sz="1575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96150" y="3580329"/>
            <a:ext cx="381000" cy="3810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686800" y="3165277"/>
            <a:ext cx="914400" cy="914400"/>
          </a:xfrm>
          <a:prstGeom prst="roundRect">
            <a:avLst>
              <a:gd name="adj" fmla="val 25000"/>
            </a:avLst>
          </a:prstGeom>
          <a:solidFill>
            <a:srgbClr val="266E77"/>
          </a:solidFill>
          <a:ln/>
        </p:spPr>
      </p:sp>
      <p:sp>
        <p:nvSpPr>
          <p:cNvPr id="15" name="Text 11"/>
          <p:cNvSpPr/>
          <p:nvPr/>
        </p:nvSpPr>
        <p:spPr>
          <a:xfrm>
            <a:off x="8648700" y="3165277"/>
            <a:ext cx="9906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150" dirty="0">
                <a:solidFill>
                  <a:srgbClr val="F3ECD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🎚️</a:t>
            </a:r>
            <a:endParaRPr lang="en-US" sz="3150" dirty="0"/>
          </a:p>
        </p:txBody>
      </p:sp>
      <p:sp>
        <p:nvSpPr>
          <p:cNvPr id="16" name="Text 12"/>
          <p:cNvSpPr/>
          <p:nvPr/>
        </p:nvSpPr>
        <p:spPr>
          <a:xfrm>
            <a:off x="8119175" y="4289227"/>
            <a:ext cx="204953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21E1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Escolha do tom</a:t>
            </a:r>
            <a:endParaRPr lang="en-US" sz="2100" dirty="0"/>
          </a:p>
        </p:txBody>
      </p:sp>
      <p:sp>
        <p:nvSpPr>
          <p:cNvPr id="17" name="Text 13"/>
          <p:cNvSpPr/>
          <p:nvPr/>
        </p:nvSpPr>
        <p:spPr>
          <a:xfrm>
            <a:off x="7894558" y="4715947"/>
            <a:ext cx="2498884" cy="308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6E5A4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Direto · calma · completo</a:t>
            </a:r>
            <a:endParaRPr lang="en-US" sz="1575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10850" y="3580329"/>
            <a:ext cx="381000" cy="3810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12001500" y="3165277"/>
            <a:ext cx="914400" cy="914400"/>
          </a:xfrm>
          <a:prstGeom prst="roundRect">
            <a:avLst>
              <a:gd name="adj" fmla="val 25000"/>
            </a:avLst>
          </a:prstGeom>
          <a:solidFill>
            <a:srgbClr val="2F5D3A"/>
          </a:solidFill>
          <a:ln/>
        </p:spPr>
      </p:sp>
      <p:sp>
        <p:nvSpPr>
          <p:cNvPr id="20" name="Text 15"/>
          <p:cNvSpPr/>
          <p:nvPr/>
        </p:nvSpPr>
        <p:spPr>
          <a:xfrm>
            <a:off x="11963400" y="3165277"/>
            <a:ext cx="9906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150" dirty="0">
                <a:solidFill>
                  <a:srgbClr val="F3ECD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💬</a:t>
            </a:r>
            <a:endParaRPr lang="en-US" sz="3150" dirty="0"/>
          </a:p>
        </p:txBody>
      </p:sp>
      <p:sp>
        <p:nvSpPr>
          <p:cNvPr id="21" name="Text 16"/>
          <p:cNvSpPr/>
          <p:nvPr/>
        </p:nvSpPr>
        <p:spPr>
          <a:xfrm>
            <a:off x="11382269" y="4289227"/>
            <a:ext cx="2152864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21E1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Chat adaptativo</a:t>
            </a:r>
            <a:endParaRPr lang="en-US" sz="2100" dirty="0"/>
          </a:p>
        </p:txBody>
      </p:sp>
      <p:sp>
        <p:nvSpPr>
          <p:cNvPr id="22" name="Text 17"/>
          <p:cNvSpPr/>
          <p:nvPr/>
        </p:nvSpPr>
        <p:spPr>
          <a:xfrm>
            <a:off x="11459278" y="4715947"/>
            <a:ext cx="1998845" cy="308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6E5A4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Gamificação + áudio</a:t>
            </a:r>
            <a:endParaRPr lang="en-US" sz="1575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925550" y="3580329"/>
            <a:ext cx="381000" cy="38100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15316200" y="3165277"/>
            <a:ext cx="914400" cy="914400"/>
          </a:xfrm>
          <a:prstGeom prst="roundRect">
            <a:avLst>
              <a:gd name="adj" fmla="val 25000"/>
            </a:avLst>
          </a:prstGeom>
          <a:solidFill>
            <a:srgbClr val="C05A33"/>
          </a:solidFill>
          <a:ln/>
        </p:spPr>
      </p:sp>
      <p:sp>
        <p:nvSpPr>
          <p:cNvPr id="25" name="Text 19"/>
          <p:cNvSpPr/>
          <p:nvPr/>
        </p:nvSpPr>
        <p:spPr>
          <a:xfrm>
            <a:off x="15278100" y="3165277"/>
            <a:ext cx="9906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150" dirty="0">
                <a:solidFill>
                  <a:srgbClr val="FBF1E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✅</a:t>
            </a:r>
            <a:endParaRPr lang="en-US" sz="3150" dirty="0"/>
          </a:p>
        </p:txBody>
      </p:sp>
      <p:sp>
        <p:nvSpPr>
          <p:cNvPr id="26" name="Text 20"/>
          <p:cNvSpPr/>
          <p:nvPr/>
        </p:nvSpPr>
        <p:spPr>
          <a:xfrm>
            <a:off x="14736788" y="4289227"/>
            <a:ext cx="2073104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21E1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Resumo + saída</a:t>
            </a:r>
            <a:endParaRPr lang="en-US" sz="2100" dirty="0"/>
          </a:p>
        </p:txBody>
      </p:sp>
      <p:sp>
        <p:nvSpPr>
          <p:cNvPr id="27" name="Text 21"/>
          <p:cNvSpPr/>
          <p:nvPr/>
        </p:nvSpPr>
        <p:spPr>
          <a:xfrm>
            <a:off x="14642617" y="4715947"/>
            <a:ext cx="2261568" cy="308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6E5A4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Passos · salvar · enviar</a:t>
            </a:r>
            <a:endParaRPr lang="en-US" sz="1575" dirty="0"/>
          </a:p>
        </p:txBody>
      </p:sp>
      <p:sp>
        <p:nvSpPr>
          <p:cNvPr id="28" name="Text 22"/>
          <p:cNvSpPr/>
          <p:nvPr/>
        </p:nvSpPr>
        <p:spPr>
          <a:xfrm>
            <a:off x="1143000" y="8553450"/>
            <a:ext cx="1373505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6E5A4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 chat, a cada "não entendi" o Téo simplifica; a cada "quero saber mais" ele aprofunda. A barra </a:t>
            </a:r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221E1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"X de 3 resolvidas"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6E5A4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reduz a ansiedade e mostra o avanço.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24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90600"/>
            <a:ext cx="176022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FE0A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DIFERENCIAIS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78280"/>
            <a:ext cx="17602200" cy="8106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850" b="1" spc="-117" kern="0" dirty="0">
                <a:solidFill>
                  <a:srgbClr val="F3ECDC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Por que o ExpliCAR é diferente.</a:t>
            </a:r>
            <a:endParaRPr lang="en-US" sz="5850" dirty="0"/>
          </a:p>
        </p:txBody>
      </p:sp>
      <p:sp>
        <p:nvSpPr>
          <p:cNvPr id="4" name="Shape 2"/>
          <p:cNvSpPr/>
          <p:nvPr/>
        </p:nvSpPr>
        <p:spPr>
          <a:xfrm>
            <a:off x="1143000" y="2955727"/>
            <a:ext cx="7858125" cy="3027402"/>
          </a:xfrm>
          <a:prstGeom prst="roundRect">
            <a:avLst>
              <a:gd name="adj" fmla="val 5663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5975509"/>
            <a:ext cx="7858125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2955727"/>
            <a:ext cx="7858125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2955727"/>
            <a:ext cx="53340" cy="3027402"/>
          </a:xfrm>
          <a:prstGeom prst="rect">
            <a:avLst/>
          </a:prstGeom>
          <a:solidFill>
            <a:srgbClr val="D99A2E"/>
          </a:solidFill>
          <a:ln/>
        </p:spPr>
      </p:sp>
      <p:sp>
        <p:nvSpPr>
          <p:cNvPr id="8" name="Shape 6"/>
          <p:cNvSpPr/>
          <p:nvPr/>
        </p:nvSpPr>
        <p:spPr>
          <a:xfrm>
            <a:off x="8993505" y="2955727"/>
            <a:ext cx="9525" cy="3027402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577340" y="3325297"/>
            <a:ext cx="73021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750" dirty="0">
                <a:solidFill>
                  <a:srgbClr val="F3ECD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🎚️</a:t>
            </a:r>
            <a:endParaRPr lang="en-US" sz="3750" dirty="0"/>
          </a:p>
        </p:txBody>
      </p:sp>
      <p:sp>
        <p:nvSpPr>
          <p:cNvPr id="10" name="Text 8"/>
          <p:cNvSpPr/>
          <p:nvPr/>
        </p:nvSpPr>
        <p:spPr>
          <a:xfrm>
            <a:off x="2498050" y="3325297"/>
            <a:ext cx="6725900" cy="48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3ECD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Persona adaptativa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2498050" y="3889177"/>
            <a:ext cx="6297888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CFE0C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 tons que mudam em tempo real conforme a reação do produtor — sem ele precisar pedir.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286875" y="2955727"/>
            <a:ext cx="7858125" cy="3027402"/>
          </a:xfrm>
          <a:prstGeom prst="roundRect">
            <a:avLst>
              <a:gd name="adj" fmla="val 5663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286875" y="5975509"/>
            <a:ext cx="7858125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286875" y="2955727"/>
            <a:ext cx="7858125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286875" y="2955727"/>
            <a:ext cx="53340" cy="3027402"/>
          </a:xfrm>
          <a:prstGeom prst="rect">
            <a:avLst/>
          </a:prstGeom>
          <a:solidFill>
            <a:srgbClr val="266E77"/>
          </a:solidFill>
          <a:ln/>
        </p:spPr>
      </p:sp>
      <p:sp>
        <p:nvSpPr>
          <p:cNvPr id="16" name="Shape 14"/>
          <p:cNvSpPr/>
          <p:nvPr/>
        </p:nvSpPr>
        <p:spPr>
          <a:xfrm>
            <a:off x="17137380" y="2955727"/>
            <a:ext cx="9525" cy="3027402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721215" y="3325297"/>
            <a:ext cx="73021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750" dirty="0">
                <a:solidFill>
                  <a:srgbClr val="F3ECD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🔓</a:t>
            </a:r>
            <a:endParaRPr lang="en-US" sz="3750" dirty="0"/>
          </a:p>
        </p:txBody>
      </p:sp>
      <p:sp>
        <p:nvSpPr>
          <p:cNvPr id="18" name="Text 16"/>
          <p:cNvSpPr/>
          <p:nvPr/>
        </p:nvSpPr>
        <p:spPr>
          <a:xfrm>
            <a:off x="10641926" y="3325297"/>
            <a:ext cx="6725900" cy="48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3ECD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100% código aberto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0641926" y="3889177"/>
            <a:ext cx="6297888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CFE0C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MIT / Apache 2.0. LLM agnóstico — a persona controla o comportamento, não o modelo.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1143000" y="6268879"/>
            <a:ext cx="7858125" cy="3027521"/>
          </a:xfrm>
          <a:prstGeom prst="roundRect">
            <a:avLst>
              <a:gd name="adj" fmla="val 5663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43000" y="9288780"/>
            <a:ext cx="7858125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43000" y="6268879"/>
            <a:ext cx="7858125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43000" y="6268879"/>
            <a:ext cx="53340" cy="3027521"/>
          </a:xfrm>
          <a:prstGeom prst="rect">
            <a:avLst/>
          </a:prstGeom>
          <a:solidFill>
            <a:srgbClr val="C05A33"/>
          </a:solidFill>
          <a:ln/>
        </p:spPr>
      </p:sp>
      <p:sp>
        <p:nvSpPr>
          <p:cNvPr id="24" name="Shape 22"/>
          <p:cNvSpPr/>
          <p:nvPr/>
        </p:nvSpPr>
        <p:spPr>
          <a:xfrm>
            <a:off x="8993505" y="6268879"/>
            <a:ext cx="9525" cy="3027521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577340" y="6638449"/>
            <a:ext cx="73021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750" dirty="0">
                <a:solidFill>
                  <a:srgbClr val="F3ECD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🔒</a:t>
            </a:r>
            <a:endParaRPr lang="en-US" sz="3750" dirty="0"/>
          </a:p>
        </p:txBody>
      </p:sp>
      <p:sp>
        <p:nvSpPr>
          <p:cNvPr id="26" name="Text 24"/>
          <p:cNvSpPr/>
          <p:nvPr/>
        </p:nvSpPr>
        <p:spPr>
          <a:xfrm>
            <a:off x="2498050" y="6638449"/>
            <a:ext cx="6725900" cy="48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3ECD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LGPD por desenho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2498050" y="7202329"/>
            <a:ext cx="6297888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CFE0C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Pseudonimização, minimização, LLM em rede interna. O código é aberto; os dados, não.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9286875" y="6268879"/>
            <a:ext cx="7858125" cy="3027521"/>
          </a:xfrm>
          <a:prstGeom prst="roundRect">
            <a:avLst>
              <a:gd name="adj" fmla="val 5663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9286875" y="9288780"/>
            <a:ext cx="7858125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9286875" y="6268879"/>
            <a:ext cx="7858125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286875" y="6268879"/>
            <a:ext cx="53340" cy="3027521"/>
          </a:xfrm>
          <a:prstGeom prst="rect">
            <a:avLst/>
          </a:prstGeom>
          <a:solidFill>
            <a:srgbClr val="9FE0A0"/>
          </a:solidFill>
          <a:ln/>
        </p:spPr>
      </p:sp>
      <p:sp>
        <p:nvSpPr>
          <p:cNvPr id="32" name="Shape 30"/>
          <p:cNvSpPr/>
          <p:nvPr/>
        </p:nvSpPr>
        <p:spPr>
          <a:xfrm>
            <a:off x="17137380" y="6268879"/>
            <a:ext cx="9525" cy="3027521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9721215" y="6638449"/>
            <a:ext cx="73021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750" dirty="0">
                <a:solidFill>
                  <a:srgbClr val="F3ECD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📡</a:t>
            </a:r>
            <a:endParaRPr lang="en-US" sz="3750" dirty="0"/>
          </a:p>
        </p:txBody>
      </p:sp>
      <p:sp>
        <p:nvSpPr>
          <p:cNvPr id="34" name="Text 32"/>
          <p:cNvSpPr/>
          <p:nvPr/>
        </p:nvSpPr>
        <p:spPr>
          <a:xfrm>
            <a:off x="10641926" y="6638449"/>
            <a:ext cx="6725900" cy="48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3ECD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Offline-first</a:t>
            </a:r>
            <a:endParaRPr lang="en-US" sz="2700" dirty="0"/>
          </a:p>
        </p:txBody>
      </p:sp>
      <p:sp>
        <p:nvSpPr>
          <p:cNvPr id="35" name="Text 33"/>
          <p:cNvSpPr/>
          <p:nvPr/>
        </p:nvSpPr>
        <p:spPr>
          <a:xfrm>
            <a:off x="10641926" y="7202329"/>
            <a:ext cx="6297888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CFE0C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PWA com cache, áudio local (OmniVoice) e FAQ embarcada. Funciona sem sinal no sítio.</a:t>
            </a:r>
            <a:endParaRPr lang="en-US" sz="18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90600"/>
            <a:ext cx="176022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C05A3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FUNCIONALIDADES DO MVP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78280"/>
            <a:ext cx="17602200" cy="8106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850" b="1" spc="-117" kern="0" dirty="0">
                <a:solidFill>
                  <a:srgbClr val="221E17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Cinco peças que já demonstramos.</a:t>
            </a:r>
            <a:endParaRPr lang="en-US" sz="5850" dirty="0"/>
          </a:p>
        </p:txBody>
      </p:sp>
      <p:sp>
        <p:nvSpPr>
          <p:cNvPr id="4" name="Shape 2"/>
          <p:cNvSpPr/>
          <p:nvPr/>
        </p:nvSpPr>
        <p:spPr>
          <a:xfrm>
            <a:off x="1143000" y="2955727"/>
            <a:ext cx="9768840" cy="6340673"/>
          </a:xfrm>
          <a:prstGeom prst="roundRect">
            <a:avLst>
              <a:gd name="adj" fmla="val 3004"/>
            </a:avLst>
          </a:prstGeom>
          <a:solidFill>
            <a:srgbClr val="2F5D3A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3355777"/>
            <a:ext cx="990752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F3ECD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💬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524000" y="4232077"/>
            <a:ext cx="9907524" cy="51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3ECD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Chat com Téo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524000" y="4837867"/>
            <a:ext cx="9277046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CFE0C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 coração da solução. Explica cada pendência com a estrutura clara e os dados da propriedade.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524000" y="8644890"/>
            <a:ext cx="9277046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9FE0A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+ Resumo Legal Personalizado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1140440" y="2955727"/>
            <a:ext cx="6004560" cy="1961078"/>
          </a:xfrm>
          <a:prstGeom prst="roundRect">
            <a:avLst>
              <a:gd name="adj" fmla="val 8743"/>
            </a:avLst>
          </a:prstGeom>
          <a:solidFill>
            <a:srgbClr val="FCF8EE"/>
          </a:solidFill>
          <a:ln w="7620">
            <a:solidFill>
              <a:srgbClr val="E4DA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71910" y="3658076"/>
            <a:ext cx="625554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221E1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📊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12249865" y="3579495"/>
            <a:ext cx="3422345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21E1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Gamificação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2249865" y="4010025"/>
            <a:ext cx="3422345" cy="320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6E5A4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Barra "1 de 3" reduz a ansiedade.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1140440" y="5145405"/>
            <a:ext cx="6004560" cy="1961198"/>
          </a:xfrm>
          <a:prstGeom prst="roundRect">
            <a:avLst>
              <a:gd name="adj" fmla="val 8742"/>
            </a:avLst>
          </a:prstGeom>
          <a:solidFill>
            <a:srgbClr val="FCF8EE"/>
          </a:solidFill>
          <a:ln w="7620">
            <a:solidFill>
              <a:srgbClr val="E4DA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71910" y="5847874"/>
            <a:ext cx="625554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221E1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🔊</a:t>
            </a:r>
            <a:endParaRPr lang="en-US" sz="3150" dirty="0"/>
          </a:p>
        </p:txBody>
      </p:sp>
      <p:sp>
        <p:nvSpPr>
          <p:cNvPr id="15" name="Text 13"/>
          <p:cNvSpPr/>
          <p:nvPr/>
        </p:nvSpPr>
        <p:spPr>
          <a:xfrm>
            <a:off x="12249865" y="5769293"/>
            <a:ext cx="3600724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21E1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Áudio · OmniVoice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2249865" y="6199823"/>
            <a:ext cx="3600724" cy="320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6E5A4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TTS local. Para quem prefere ouvir.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1140440" y="7335203"/>
            <a:ext cx="6004560" cy="1961198"/>
          </a:xfrm>
          <a:prstGeom prst="roundRect">
            <a:avLst>
              <a:gd name="adj" fmla="val 8742"/>
            </a:avLst>
          </a:prstGeom>
          <a:solidFill>
            <a:srgbClr val="FCF8EE"/>
          </a:solidFill>
          <a:ln w="7620">
            <a:solidFill>
              <a:srgbClr val="E4DA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71910" y="8037672"/>
            <a:ext cx="625554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221E1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🔎</a:t>
            </a:r>
            <a:endParaRPr lang="en-US" sz="3150" dirty="0"/>
          </a:p>
        </p:txBody>
      </p:sp>
      <p:sp>
        <p:nvSpPr>
          <p:cNvPr id="19" name="Text 17"/>
          <p:cNvSpPr/>
          <p:nvPr/>
        </p:nvSpPr>
        <p:spPr>
          <a:xfrm>
            <a:off x="12249865" y="7959090"/>
            <a:ext cx="4032004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21E1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FAQ contextual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2249865" y="8389620"/>
            <a:ext cx="4032004" cy="320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6E5A4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Entende mesmo com erro de digitação.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66E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906500" y="-1333500"/>
            <a:ext cx="6096000" cy="6096000"/>
          </a:xfrm>
          <a:prstGeom prst="ellipse">
            <a:avLst/>
          </a:prstGeom>
          <a:solidFill>
            <a:srgbClr val="2F5D3A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90600"/>
            <a:ext cx="176022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FD8D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IMPACTO ESPERADO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516380"/>
            <a:ext cx="13735050" cy="2019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0" b="1" spc="-195" kern="0" dirty="0">
                <a:solidFill>
                  <a:srgbClr val="E9F4F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 "não sei" para "vou resolver".</a:t>
            </a:r>
            <a:endParaRPr lang="en-US" sz="7800" dirty="0"/>
          </a:p>
        </p:txBody>
      </p:sp>
      <p:sp>
        <p:nvSpPr>
          <p:cNvPr id="5" name="Shape 3"/>
          <p:cNvSpPr/>
          <p:nvPr/>
        </p:nvSpPr>
        <p:spPr>
          <a:xfrm>
            <a:off x="1143000" y="7576185"/>
            <a:ext cx="3814763" cy="1720215"/>
          </a:xfrm>
          <a:prstGeom prst="roundRect">
            <a:avLst>
              <a:gd name="adj" fmla="val 8859"/>
            </a:avLst>
          </a:prstGeom>
          <a:solidFill>
            <a:srgbClr val="FFFFFF">
              <a:alpha val="10000"/>
            </a:srgbClr>
          </a:solidFill>
          <a:ln w="762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36370" y="7907655"/>
            <a:ext cx="3550825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Produtor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1436370" y="8357235"/>
            <a:ext cx="3324863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CFE9E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Entende, perde o medo, sabe o que fazer.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205413" y="7576185"/>
            <a:ext cx="3814763" cy="1720215"/>
          </a:xfrm>
          <a:prstGeom prst="roundRect">
            <a:avLst>
              <a:gd name="adj" fmla="val 8859"/>
            </a:avLst>
          </a:prstGeom>
          <a:solidFill>
            <a:srgbClr val="FFFFFF">
              <a:alpha val="10000"/>
            </a:srgbClr>
          </a:solidFill>
          <a:ln w="762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98782" y="7907655"/>
            <a:ext cx="3550825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SICAR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5498782" y="8357235"/>
            <a:ext cx="3324863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CFE9E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Menos processos parados, dados melhores.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9267825" y="7576185"/>
            <a:ext cx="3814763" cy="1720215"/>
          </a:xfrm>
          <a:prstGeom prst="roundRect">
            <a:avLst>
              <a:gd name="adj" fmla="val 8859"/>
            </a:avLst>
          </a:prstGeom>
          <a:solidFill>
            <a:srgbClr val="FFFFFF">
              <a:alpha val="10000"/>
            </a:srgbClr>
          </a:solidFill>
          <a:ln w="762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61195" y="7907655"/>
            <a:ext cx="3550825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OEMAs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9561195" y="8357235"/>
            <a:ext cx="3324863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CFE9E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Menos retrabalho e atendimento repetitivo.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3330238" y="7576185"/>
            <a:ext cx="3814763" cy="1720215"/>
          </a:xfrm>
          <a:prstGeom prst="roundRect">
            <a:avLst>
              <a:gd name="adj" fmla="val 8859"/>
            </a:avLst>
          </a:prstGeom>
          <a:solidFill>
            <a:srgbClr val="FFFFFF">
              <a:alpha val="10000"/>
            </a:srgbClr>
          </a:solidFill>
          <a:ln w="762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623608" y="7907655"/>
            <a:ext cx="3550825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Sociedade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13623608" y="8357235"/>
            <a:ext cx="3324863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CFE9E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Mais preservação e segurança jurídica.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24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954000" y="5334000"/>
            <a:ext cx="6858000" cy="6858000"/>
          </a:xfrm>
          <a:prstGeom prst="ellipse">
            <a:avLst/>
          </a:prstGeom>
          <a:solidFill>
            <a:srgbClr val="2F5D3A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" y="1066800"/>
            <a:ext cx="685800" cy="685800"/>
          </a:xfrm>
          <a:prstGeom prst="ellipse">
            <a:avLst/>
          </a:prstGeom>
          <a:solidFill>
            <a:srgbClr val="D99A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95400" y="1219200"/>
            <a:ext cx="381000" cy="381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19300" y="1146810"/>
            <a:ext cx="2118420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F3ECDC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ExpliCAR</a:t>
            </a:r>
            <a:endParaRPr lang="en-US" sz="3450" dirty="0"/>
          </a:p>
        </p:txBody>
      </p:sp>
      <p:sp>
        <p:nvSpPr>
          <p:cNvPr id="6" name="Text 3"/>
          <p:cNvSpPr/>
          <p:nvPr/>
        </p:nvSpPr>
        <p:spPr>
          <a:xfrm>
            <a:off x="1143000" y="3838575"/>
            <a:ext cx="17602200" cy="1413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400" b="1" spc="-285" kern="0" dirty="0">
                <a:solidFill>
                  <a:srgbClr val="F3ECDC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Obrigado.</a:t>
            </a:r>
            <a:endParaRPr lang="en-US" sz="11400" dirty="0"/>
          </a:p>
        </p:txBody>
      </p:sp>
      <p:sp>
        <p:nvSpPr>
          <p:cNvPr id="7" name="Text 4"/>
          <p:cNvSpPr/>
          <p:nvPr/>
        </p:nvSpPr>
        <p:spPr>
          <a:xfrm>
            <a:off x="1143000" y="5499735"/>
            <a:ext cx="11576685" cy="1032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700" dirty="0">
                <a:solidFill>
                  <a:srgbClr val="CFE0C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 que travava há anos agora cabe no bolso do seu Raimundo. Sem sair de casa, sem juridiquês — e funciona offline.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1143000" y="8580120"/>
            <a:ext cx="276867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14" kern="0" dirty="0">
                <a:solidFill>
                  <a:srgbClr val="9FE0A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DESAFIO</a:t>
            </a:r>
            <a:endParaRPr lang="en-US" sz="1425" dirty="0"/>
          </a:p>
        </p:txBody>
      </p:sp>
      <p:sp>
        <p:nvSpPr>
          <p:cNvPr id="9" name="Text 6"/>
          <p:cNvSpPr/>
          <p:nvPr/>
        </p:nvSpPr>
        <p:spPr>
          <a:xfrm>
            <a:off x="1143000" y="8892540"/>
            <a:ext cx="276867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3ECD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haCARthon · Desafio 3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4117181" y="8580120"/>
            <a:ext cx="405715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14" kern="0" dirty="0">
                <a:solidFill>
                  <a:srgbClr val="9FE0A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MENTORIA</a:t>
            </a:r>
            <a:endParaRPr lang="en-US" sz="1425" dirty="0"/>
          </a:p>
        </p:txBody>
      </p:sp>
      <p:sp>
        <p:nvSpPr>
          <p:cNvPr id="11" name="Text 8"/>
          <p:cNvSpPr/>
          <p:nvPr/>
        </p:nvSpPr>
        <p:spPr>
          <a:xfrm>
            <a:off x="4117181" y="8892540"/>
            <a:ext cx="405715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3ECD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Lorrana Nunes (@lorrana_nunes)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8262700" y="8580120"/>
            <a:ext cx="2052411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14" kern="0" dirty="0">
                <a:solidFill>
                  <a:srgbClr val="9FE0A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EQUIPE</a:t>
            </a:r>
            <a:endParaRPr lang="en-US" sz="1425" dirty="0"/>
          </a:p>
        </p:txBody>
      </p:sp>
      <p:sp>
        <p:nvSpPr>
          <p:cNvPr id="13" name="Text 10"/>
          <p:cNvSpPr/>
          <p:nvPr/>
        </p:nvSpPr>
        <p:spPr>
          <a:xfrm>
            <a:off x="8262700" y="8892540"/>
            <a:ext cx="205241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3ECD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Equipe ExpliCAR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2026-06-28T14:00:40Z</dcterms:created>
  <dcterms:modified xsi:type="dcterms:W3CDTF">2026-06-28T14:00:40Z</dcterms:modified>
</cp:coreProperties>
</file>